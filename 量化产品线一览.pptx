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</a:defRPr>
            </a:pPr>
            <a:r>
              <a:t>量化产品线一览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528B"/>
                </a:solidFill>
              </a:defRPr>
            </a:pPr>
            <a:r>
              <a:t>沪深300指增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■ 潮汐300指增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仓位：60%-140%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动态换手率：80-200倍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持股：700-1000只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中证300成分股≥50%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市值因子暴露&lt;0.1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97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528B"/>
                </a:solidFill>
              </a:defRPr>
            </a:pPr>
            <a:r>
              <a:t>中证1000指增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60020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■ 潮汐1000指增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仓位：60%-140%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动态换手率：80-200倍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持股：700-1000只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中证1000成分股≥50%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市值/非线性市值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因子暴露&lt;0.3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92290" y="1097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528B"/>
                </a:solidFill>
              </a:defRPr>
            </a:pPr>
            <a:r>
              <a:t>择时选股系列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92290" y="160020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■ 择时安渡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仓位：0%-100%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换手率：80-200倍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持股：500-1000只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全市场选股，剔除ST、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流动性差及市值后500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92290" y="356616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■ 择时逐浪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仓位：0-140%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换手率：80-200倍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持股：500-1000只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全市场选股，剔除ST、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流动性差及市值后500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2290" y="521208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■ 双创择时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仓位：0-140%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换手率：80-200倍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持股：200-300只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科创板和创业板成分股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9860" y="1097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528B"/>
                </a:solidFill>
              </a:defRPr>
            </a:pPr>
            <a:r>
              <a:t>量化中性系列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9860" y="16002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■ 择时中性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股票敞口：-10%~10%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通过择时信号决定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多头端300/500/1000权重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每15分钟比较远近合约</a:t>
            </a:r>
          </a:p>
          <a:p>
            <a:pPr algn="l"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  并进行移仓调整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8980" y="1371600"/>
            <a:ext cx="9144" cy="5029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0780" y="1371600"/>
            <a:ext cx="9144" cy="5029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12580" y="1371600"/>
            <a:ext cx="9144" cy="5029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